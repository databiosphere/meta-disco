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github.com/DataBiosphere/meta-disco/issues/331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github.com/DataBiosphere/meta-disco/issues/328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35C94"/>
                </a:solidFill>
                <a:latin typeface="Inter"/>
              </a:rPr>
              <a:t>Meta-Disco (MetaData Discovery)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616161"/>
                </a:solidFill>
              </a:defRPr>
            </a:pPr>
            <a:r>
              <a:rPr>
                <a:latin typeface="Inter"/>
              </a:rPr>
              <a:t>Project overview — current state and next steps</a:t>
            </a:r>
          </a:p>
          <a:p>
            <a:pPr>
              <a:defRPr sz="2200">
                <a:solidFill>
                  <a:srgbClr val="616161"/>
                </a:solidFill>
              </a:defRPr>
            </a:pPr>
            <a:r>
              <a:rPr>
                <a:latin typeface="Inter"/>
              </a:rPr>
              <a:t>August 18, 2026</a:t>
            </a:r>
          </a:p>
        </p:txBody>
      </p:sp>
      <p:pic>
        <p:nvPicPr>
          <p:cNvPr id="4" name="Picture 3" descr="logoAnvil_ti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080760"/>
            <a:ext cx="1463040" cy="5329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35C94"/>
                </a:solidFill>
                <a:latin typeface="Inter"/>
              </a:rPr>
              <a:t>What Meta-Disco is (a reminder)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1600"/>
              </a:spcAft>
              <a:defRPr sz="2200">
                <a:solidFill>
                  <a:srgbClr val="212B36"/>
                </a:solidFill>
              </a:defRPr>
            </a:pPr>
            <a:r>
              <a:rPr>
                <a:latin typeface="Inter"/>
              </a:rPr>
              <a:t>Discovers metadata for omics data files — BAM/CRAM, VCF, FASTQ, FASTA, GFA, BED, …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>
                <a:solidFill>
                  <a:srgbClr val="212B36"/>
                </a:solidFill>
              </a:defRPr>
            </a:pPr>
            <a:r>
              <a:rPr>
                <a:latin typeface="Inter"/>
              </a:rPr>
              <a:t>LLM authors rules that are run by a deterministic rule engine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>
                <a:solidFill>
                  <a:srgbClr val="212B36"/>
                </a:solidFill>
              </a:defRPr>
            </a:pPr>
            <a:r>
              <a:rPr>
                <a:latin typeface="Inter"/>
              </a:rPr>
              <a:t>No LLM at inference time: deterministic Python only — reproducible, re-runnable, cheap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>
                <a:solidFill>
                  <a:srgbClr val="212B36"/>
                </a:solidFill>
              </a:defRPr>
            </a:pPr>
            <a:r>
              <a:rPr>
                <a:latin typeface="Inter"/>
              </a:rPr>
              <a:t>Every value carries full provenance: which rule fired and why</a:t>
            </a:r>
          </a:p>
        </p:txBody>
      </p:sp>
      <p:pic>
        <p:nvPicPr>
          <p:cNvPr id="4" name="Picture 3" descr="logoAnvil_ti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080760"/>
            <a:ext cx="1463040" cy="5329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729C"/>
                </a:solidFill>
                <a:latin typeface="Inter"/>
              </a:rPr>
              <a:t>Current metadata dimensions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2200">
                <a:solidFill>
                  <a:srgbClr val="212B36"/>
                </a:solidFill>
                <a:latin typeface="Inter"/>
              </a:rPr>
              <a:t>data_modality</a:t>
            </a:r>
            <a:r>
              <a:rPr sz="2200">
                <a:solidFill>
                  <a:srgbClr val="212B36"/>
                </a:solidFill>
                <a:latin typeface="Inter"/>
              </a:rPr>
              <a:t> — what the data measures (genomic, transcriptomic.*, epigenomic.*, imaging.histology)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2200">
                <a:solidFill>
                  <a:srgbClr val="212B36"/>
                </a:solidFill>
                <a:latin typeface="Inter"/>
              </a:rPr>
              <a:t>data_type</a:t>
            </a:r>
            <a:r>
              <a:rPr sz="2200">
                <a:solidFill>
                  <a:srgbClr val="212B36"/>
                </a:solidFill>
                <a:latin typeface="Inter"/>
              </a:rPr>
              <a:t> — what the file contains (alignments, variant calls, sequence, assembly, pangenome, …)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2200">
                <a:solidFill>
                  <a:srgbClr val="212B36"/>
                </a:solidFill>
                <a:latin typeface="Inter"/>
              </a:rPr>
              <a:t>reference_assembly</a:t>
            </a:r>
            <a:r>
              <a:rPr sz="2200">
                <a:solidFill>
                  <a:srgbClr val="212B36"/>
                </a:solidFill>
                <a:latin typeface="Inter"/>
              </a:rPr>
              <a:t> — the coordinate system (GRCh37, GRCh38, CHM13)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2200">
                <a:solidFill>
                  <a:srgbClr val="212B36"/>
                </a:solidFill>
                <a:latin typeface="Inter"/>
              </a:rPr>
              <a:t>assay_type</a:t>
            </a:r>
            <a:r>
              <a:rPr sz="2200">
                <a:solidFill>
                  <a:srgbClr val="212B36"/>
                </a:solidFill>
                <a:latin typeface="Inter"/>
              </a:rPr>
              <a:t> — the experiment that produced it (WGS, WES, RNA-seq, …)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2200">
                <a:solidFill>
                  <a:srgbClr val="212B36"/>
                </a:solidFill>
                <a:latin typeface="Inter"/>
              </a:rPr>
              <a:t>platform</a:t>
            </a:r>
            <a:r>
              <a:rPr sz="2200">
                <a:solidFill>
                  <a:srgbClr val="212B36"/>
                </a:solidFill>
                <a:latin typeface="Inter"/>
              </a:rPr>
              <a:t> — the instrument (ILLUMINA, PACBIO, ONT, …)</a:t>
            </a:r>
          </a:p>
        </p:txBody>
      </p:sp>
      <p:pic>
        <p:nvPicPr>
          <p:cNvPr id="4" name="Picture 3" descr="logoAnvil_ti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080760"/>
            <a:ext cx="1463040" cy="5329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35C94"/>
                </a:solidFill>
                <a:latin typeface="Inter"/>
              </a:rPr>
              <a:t>Example Rule — tier 1 (extension)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023360"/>
          </a:xfrm>
          <a:prstGeom prst="rect">
            <a:avLst/>
          </a:prstGeom>
          <a:solidFill>
            <a:srgbClr val="212B36"/>
          </a:solidFill>
        </p:spPr>
        <p:txBody>
          <a:bodyPr wrap="none" anchor="t" lIns="228600" rIns="228600" tIns="164592" bIns="164592">
            <a:spAutoFit/>
          </a:bodyPr>
          <a:lstStyle/>
          <a:p>
            <a:pPr>
              <a:lnSpc>
                <a:spcPct val="115000"/>
              </a:lnSpc>
            </a:pPr>
            <a:r>
              <a:rPr sz="1700">
                <a:solidFill>
                  <a:srgbClr val="E6EDF3"/>
                </a:solidFill>
                <a:latin typeface="Roboto Mono"/>
              </a:rPr>
              <a:t># unified_rules.yaml — the simplest kind of rule (complete, verbatim)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7EC8E3"/>
                </a:solidFill>
                <a:latin typeface="Roboto Mono"/>
              </a:rPr>
              <a:t>- id: variant_default_genomic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7EC8E3"/>
                </a:solidFill>
                <a:latin typeface="Roboto Mono"/>
              </a:rPr>
              <a:t>  tier: 1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E6EDF3"/>
                </a:solidFill>
                <a:latin typeface="Roboto Mono"/>
              </a:rPr>
              <a:t>  scope: extension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E6EDF3"/>
                </a:solidFill>
                <a:latin typeface="Roboto Mono"/>
              </a:rPr>
              <a:t>  when: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E6EDF3"/>
                </a:solidFill>
                <a:latin typeface="Roboto Mono"/>
              </a:rPr>
              <a:t>    extensions: [".vcf", ".bcf", ".gvcf", ".g.vcf"]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E6EDF3"/>
                </a:solidFill>
                <a:latin typeface="Roboto Mono"/>
              </a:rPr>
              <a:t>  then: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E6EDF3"/>
                </a:solidFill>
                <a:latin typeface="Roboto Mono"/>
              </a:rPr>
              <a:t>    data_modality: genomic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E6EDF3"/>
                </a:solidFill>
                <a:latin typeface="Roboto Mono"/>
              </a:rPr>
              <a:t>    data_type: variants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E6EDF3"/>
                </a:solidFill>
                <a:latin typeface="Roboto Mono"/>
              </a:rPr>
              <a:t>  rationale: "VCF files contain variant calls (genomic data)"</a:t>
            </a:r>
          </a:p>
        </p:txBody>
      </p:sp>
      <p:pic>
        <p:nvPicPr>
          <p:cNvPr id="4" name="Picture 3" descr="logoAnvil_ti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080760"/>
            <a:ext cx="1463040" cy="5329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35C94"/>
                </a:solidFill>
                <a:latin typeface="Inter"/>
              </a:rPr>
              <a:t>Example Rule — tier 3 (header)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solidFill>
            <a:srgbClr val="212B36"/>
          </a:solidFill>
        </p:spPr>
        <p:txBody>
          <a:bodyPr wrap="none" anchor="t" lIns="228600" rIns="228600" tIns="164592" bIns="164592">
            <a:spAutoFit/>
          </a:bodyPr>
          <a:lstStyle/>
          <a:p>
            <a:pPr>
              <a:lnSpc>
                <a:spcPct val="115000"/>
              </a:lnSpc>
            </a:pPr>
            <a:r>
              <a:rPr sz="1700">
                <a:solidFill>
                  <a:srgbClr val="E6EDF3"/>
                </a:solidFill>
                <a:latin typeface="Roboto Mono"/>
              </a:rPr>
              <a:t># unified_rules.yaml — one of the LLM-authored rules (complete, verbatim)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7EC8E3"/>
                </a:solidFill>
                <a:latin typeface="Roboto Mono"/>
              </a:rPr>
              <a:t>- id: platform_illumina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7EC8E3"/>
                </a:solidFill>
                <a:latin typeface="Roboto Mono"/>
              </a:rPr>
              <a:t>  tier: 3            # tier = priority, higher wins: 4 content-read &gt; 3 header &gt; 2 filename &gt; 1 extension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E6EDF3"/>
                </a:solidFill>
                <a:latin typeface="Roboto Mono"/>
              </a:rPr>
              <a:t>  scope: header      # evaluated only when the file's header was fetched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E6EDF3"/>
                </a:solidFill>
                <a:latin typeface="Roboto Mono"/>
              </a:rPr>
              <a:t>  when:              # ALL conditions must hold for the rule to fire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E6EDF3"/>
                </a:solidFill>
                <a:latin typeface="Roboto Mono"/>
              </a:rPr>
              <a:t>    extensions: [".bam", ".cram"]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E6EDF3"/>
                </a:solidFill>
                <a:latin typeface="Roboto Mono"/>
              </a:rPr>
              <a:t>    header_section: "@RG"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E6EDF3"/>
                </a:solidFill>
                <a:latin typeface="Roboto Mono"/>
              </a:rPr>
              <a:t>    header_field:   "PL"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E6EDF3"/>
                </a:solidFill>
                <a:latin typeface="Roboto Mono"/>
              </a:rPr>
              <a:t>    header_pattern: "ILLUMINA"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E6EDF3"/>
                </a:solidFill>
                <a:latin typeface="Roboto Mono"/>
              </a:rPr>
              <a:t>  then: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E6EDF3"/>
                </a:solidFill>
                <a:latin typeface="Roboto Mono"/>
              </a:rPr>
              <a:t>    platform: ILLUMINA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E6EDF3"/>
                </a:solidFill>
                <a:latin typeface="Roboto Mono"/>
              </a:rPr>
              <a:t>  rationale: "PL:ILLUMINA in @RG header — definitive Illumina platform tag"</a:t>
            </a:r>
          </a:p>
        </p:txBody>
      </p:sp>
      <p:pic>
        <p:nvPicPr>
          <p:cNvPr id="4" name="Picture 3" descr="logoAnvil_ti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080760"/>
            <a:ext cx="1463040" cy="5329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35C94"/>
                </a:solidFill>
                <a:latin typeface="Inter"/>
              </a:rPr>
              <a:t>Example Output — the full record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074920"/>
          </a:xfrm>
          <a:prstGeom prst="rect">
            <a:avLst/>
          </a:prstGeom>
          <a:solidFill>
            <a:srgbClr val="212B36"/>
          </a:solidFill>
        </p:spPr>
        <p:txBody>
          <a:bodyPr wrap="square" anchor="t" lIns="228600" rIns="228600" tIns="164592" bIns="164592">
            <a:spAutoFit/>
          </a:bodyPr>
          <a:lstStyle/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7EC8E3"/>
                </a:solidFill>
                <a:latin typeface="Roboto Mono"/>
              </a:rPr>
              <a:t> "file_name": "NA12485.cram",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"md5sum": "0834b7799d163d48c08fd5243296079a",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"file_size": 11227299324,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"file_format": ".cram",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"dataset_title": "ANVIL_T2T",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"classifications": {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7EC8E3"/>
                </a:solidFill>
                <a:latin typeface="Roboto Mono"/>
              </a:rPr>
              <a:t>  "data_modality": {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"value": "genomic",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"status": "classified",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"evidence": [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 {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  "rule_id": "program_bwa",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  "reason": "BWA (Burrows-Wheeler Aligner) is the standard short-read aligner for DNA sequencing. Commonly used for WGS, WES, and ChIP-seq",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  "tier": 3,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  "value": "genomic"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]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},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7EC8E3"/>
                </a:solidFill>
                <a:latin typeface="Roboto Mono"/>
              </a:rPr>
              <a:t>  "data_type": {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"value": "alignments",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"status": "classified",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"evidence": [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 {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  "rule_id": "program_bwa",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  "reason": "BWA (Burrows-Wheeler Aligner) is the standard short-read aligner for DNA sequencing. Commonly used for WGS, WES, and ChIP-seq",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  "tier": 3,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  "value": "alignments"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]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},</a:t>
            </a:r>
          </a:p>
        </p:txBody>
      </p:sp>
      <p:pic>
        <p:nvPicPr>
          <p:cNvPr id="4" name="Picture 3" descr="logoAnvil_ti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080760"/>
            <a:ext cx="1463040" cy="5329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35C94"/>
                </a:solidFill>
                <a:latin typeface="Inter"/>
              </a:rPr>
              <a:t>Example Output — the full record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074920"/>
          </a:xfrm>
          <a:prstGeom prst="rect">
            <a:avLst/>
          </a:prstGeom>
          <a:solidFill>
            <a:srgbClr val="212B36"/>
          </a:solidFill>
        </p:spPr>
        <p:txBody>
          <a:bodyPr wrap="square" anchor="t" lIns="228600" rIns="228600" tIns="164592" bIns="164592">
            <a:spAutoFit/>
          </a:bodyPr>
          <a:lstStyle/>
          <a:p>
            <a:pPr>
              <a:lnSpc>
                <a:spcPct val="100000"/>
              </a:lnSpc>
            </a:pPr>
            <a:r>
              <a:rPr sz="1000">
                <a:solidFill>
                  <a:srgbClr val="7EC8E3"/>
                </a:solidFill>
                <a:latin typeface="Roboto Mono"/>
              </a:rPr>
              <a:t>  "platform": {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"value": "ILLUMINA",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"status": "classified",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"evidence": [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 {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  "rule_id": "platform_illumina",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  "reason": "PL:ILLUMINA in @RG header \u2014 definitive Illumina platform tag",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  "tier": 3,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  "value": "ILLUMINA"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]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},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7EC8E3"/>
                </a:solidFill>
                <a:latin typeface="Roboto Mono"/>
              </a:rPr>
              <a:t>  "reference_assembly": {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"value": "CHM13",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"status": "classified",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"evidence": [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 {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  "rule_id": "contig_length_detection",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  "reason": "Reference CHM13 detected from 18 matching contig lengths (definitive)",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  "tier": 4,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  "value": "CHM13"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]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},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7EC8E3"/>
                </a:solidFill>
                <a:latin typeface="Roboto Mono"/>
              </a:rPr>
              <a:t>  "assay_type": {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"value": "WGS",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"status": "classified",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"evidence": [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 {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  "rule_id": "infer_assay_type",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  "reason": "Inferred WGS from platform/modality/file size signals",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  "tier": 3,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  "value": "WGS"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 ]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 }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},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 "entry_id": "4e466c25-a99f-4bbf-b944-3d9678ae80b1"</a:t>
            </a: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E6EDF3"/>
                </a:solidFill>
                <a:latin typeface="Roboto Mono"/>
              </a:rPr>
              <a:t>}</a:t>
            </a:r>
          </a:p>
        </p:txBody>
      </p:sp>
      <p:pic>
        <p:nvPicPr>
          <p:cNvPr id="4" name="Picture 3" descr="logoAnvil_ti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080760"/>
            <a:ext cx="1463040" cy="5329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35C94"/>
                </a:solidFill>
                <a:latin typeface="Inter"/>
              </a:rPr>
              <a:t>Not classifying is an explicit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700">
                <a:solidFill>
                  <a:srgbClr val="212B36"/>
                </a:solidFill>
                <a:latin typeface="Inter"/>
              </a:rPr>
              <a:t>classified</a:t>
            </a:r>
            <a:r>
              <a:rPr sz="1700">
                <a:solidFill>
                  <a:srgbClr val="212B36"/>
                </a:solidFill>
                <a:latin typeface="Inter"/>
              </a:rPr>
              <a:t> — evidence supports a value</a:t>
            </a:r>
          </a:p>
          <a:p>
            <a:pPr>
              <a:spcAft>
                <a:spcPts val="600"/>
              </a:spcAft>
            </a:pPr>
            <a:r>
              <a:rPr b="1" sz="1700">
                <a:solidFill>
                  <a:srgbClr val="212B36"/>
                </a:solidFill>
                <a:latin typeface="Inter"/>
              </a:rPr>
              <a:t>not_applicable</a:t>
            </a:r>
            <a:r>
              <a:rPr sz="1700">
                <a:solidFill>
                  <a:srgbClr val="212B36"/>
                </a:solidFill>
                <a:latin typeface="Inter"/>
              </a:rPr>
              <a:t> — the dimension makes no sense for this file kind — an index has no platform; a de novo assembly has no reference_assembly (it is its own coordinate system)</a:t>
            </a:r>
          </a:p>
          <a:p>
            <a:pPr>
              <a:spcAft>
                <a:spcPts val="600"/>
              </a:spcAft>
            </a:pPr>
            <a:r>
              <a:rPr b="1" sz="1700">
                <a:solidFill>
                  <a:srgbClr val="212B36"/>
                </a:solidFill>
                <a:latin typeface="Inter"/>
              </a:rPr>
              <a:t>not_classified</a:t>
            </a:r>
            <a:r>
              <a:rPr sz="1700">
                <a:solidFill>
                  <a:srgbClr val="212B36"/>
                </a:solidFill>
                <a:latin typeface="Inter"/>
              </a:rPr>
              <a:t> — applicable, but evidence is insufficient — better empty than guessed</a:t>
            </a:r>
          </a:p>
          <a:p>
            <a:pPr>
              <a:spcAft>
                <a:spcPts val="600"/>
              </a:spcAft>
            </a:pPr>
            <a:r>
              <a:rPr b="1" sz="1700">
                <a:solidFill>
                  <a:srgbClr val="212B36"/>
                </a:solidFill>
                <a:latin typeface="Inter"/>
              </a:rPr>
              <a:t>conflict</a:t>
            </a:r>
            <a:r>
              <a:rPr sz="1700">
                <a:solidFill>
                  <a:srgbClr val="212B36"/>
                </a:solidFill>
                <a:latin typeface="Inter"/>
              </a:rPr>
              <a:t> — top claims tie — flagged for a human, never silently resolved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2880360"/>
          </a:xfrm>
          <a:prstGeom prst="rect">
            <a:avLst/>
          </a:prstGeom>
          <a:solidFill>
            <a:srgbClr val="212B36"/>
          </a:solidFill>
        </p:spPr>
        <p:txBody>
          <a:bodyPr wrap="none" anchor="t" lIns="228600" rIns="228600" tIns="164592" bIns="164592">
            <a:spAutoFit/>
          </a:bodyPr>
          <a:lstStyle/>
          <a:p>
            <a:pPr>
              <a:lnSpc>
                <a:spcPct val="105000"/>
              </a:lnSpc>
            </a:pPr>
            <a:r>
              <a:rPr sz="1300">
                <a:solidFill>
                  <a:srgbClr val="E6EDF3"/>
                </a:solidFill>
                <a:latin typeface="Roboto Mono"/>
              </a:rPr>
              <a:t># rules can declare statuses, not just values (complete, verbatim)</a:t>
            </a:r>
          </a:p>
          <a:p>
            <a:pPr>
              <a:lnSpc>
                <a:spcPct val="105000"/>
              </a:lnSpc>
            </a:pPr>
            <a:r>
              <a:rPr sz="1300">
                <a:solidFill>
                  <a:srgbClr val="7EC8E3"/>
                </a:solidFill>
                <a:latin typeface="Roboto Mono"/>
              </a:rPr>
              <a:t>- id: index_not_applicable</a:t>
            </a:r>
          </a:p>
          <a:p>
            <a:pPr>
              <a:lnSpc>
                <a:spcPct val="105000"/>
              </a:lnSpc>
            </a:pPr>
            <a:r>
              <a:rPr sz="1300">
                <a:solidFill>
                  <a:srgbClr val="E6EDF3"/>
                </a:solidFill>
                <a:latin typeface="Roboto Mono"/>
              </a:rPr>
              <a:t>  tier: 1</a:t>
            </a:r>
          </a:p>
          <a:p>
            <a:pPr>
              <a:lnSpc>
                <a:spcPct val="105000"/>
              </a:lnSpc>
            </a:pPr>
            <a:r>
              <a:rPr sz="1300">
                <a:solidFill>
                  <a:srgbClr val="E6EDF3"/>
                </a:solidFill>
                <a:latin typeface="Roboto Mono"/>
              </a:rPr>
              <a:t>  scope: extension</a:t>
            </a:r>
          </a:p>
          <a:p>
            <a:pPr>
              <a:lnSpc>
                <a:spcPct val="105000"/>
              </a:lnSpc>
            </a:pPr>
            <a:r>
              <a:rPr sz="1300">
                <a:solidFill>
                  <a:srgbClr val="E6EDF3"/>
                </a:solidFill>
                <a:latin typeface="Roboto Mono"/>
              </a:rPr>
              <a:t>  when:</a:t>
            </a:r>
          </a:p>
          <a:p>
            <a:pPr>
              <a:lnSpc>
                <a:spcPct val="105000"/>
              </a:lnSpc>
            </a:pPr>
            <a:r>
              <a:rPr sz="1300">
                <a:solidFill>
                  <a:srgbClr val="E6EDF3"/>
                </a:solidFill>
                <a:latin typeface="Roboto Mono"/>
              </a:rPr>
              <a:t>    extensions: [".bai", ".crai", ".tbi", ".csi", ".fai", ".idx", ".pbi"]</a:t>
            </a:r>
          </a:p>
          <a:p>
            <a:pPr>
              <a:lnSpc>
                <a:spcPct val="105000"/>
              </a:lnSpc>
            </a:pPr>
            <a:r>
              <a:rPr sz="1300">
                <a:solidFill>
                  <a:srgbClr val="E6EDF3"/>
                </a:solidFill>
                <a:latin typeface="Roboto Mono"/>
              </a:rPr>
              <a:t>  then:</a:t>
            </a:r>
          </a:p>
          <a:p>
            <a:pPr>
              <a:lnSpc>
                <a:spcPct val="105000"/>
              </a:lnSpc>
            </a:pPr>
            <a:r>
              <a:rPr sz="1300">
                <a:solidFill>
                  <a:srgbClr val="7EC8E3"/>
                </a:solidFill>
                <a:latin typeface="Roboto Mono"/>
              </a:rPr>
              <a:t>    status:</a:t>
            </a:r>
          </a:p>
          <a:p>
            <a:pPr>
              <a:lnSpc>
                <a:spcPct val="105000"/>
              </a:lnSpc>
            </a:pPr>
            <a:r>
              <a:rPr sz="1300">
                <a:solidFill>
                  <a:srgbClr val="E6EDF3"/>
                </a:solidFill>
                <a:latin typeface="Roboto Mono"/>
              </a:rPr>
              <a:t>      data_modality: not_applicable</a:t>
            </a:r>
          </a:p>
          <a:p>
            <a:pPr>
              <a:lnSpc>
                <a:spcPct val="105000"/>
              </a:lnSpc>
            </a:pPr>
            <a:r>
              <a:rPr sz="1300">
                <a:solidFill>
                  <a:srgbClr val="E6EDF3"/>
                </a:solidFill>
                <a:latin typeface="Roboto Mono"/>
              </a:rPr>
              <a:t>      data_type:     not_applicable</a:t>
            </a:r>
          </a:p>
          <a:p>
            <a:pPr>
              <a:lnSpc>
                <a:spcPct val="105000"/>
              </a:lnSpc>
            </a:pPr>
            <a:r>
              <a:rPr sz="1300">
                <a:solidFill>
                  <a:srgbClr val="E6EDF3"/>
                </a:solidFill>
                <a:latin typeface="Roboto Mono"/>
              </a:rPr>
              <a:t>      assay_type:    not_applicable</a:t>
            </a:r>
          </a:p>
          <a:p>
            <a:pPr>
              <a:lnSpc>
                <a:spcPct val="105000"/>
              </a:lnSpc>
            </a:pPr>
            <a:r>
              <a:rPr sz="1300">
                <a:solidFill>
                  <a:srgbClr val="E6EDF3"/>
                </a:solidFill>
                <a:latin typeface="Roboto Mono"/>
              </a:rPr>
              <a:t>      platform:      not_applicable</a:t>
            </a:r>
          </a:p>
          <a:p>
            <a:pPr>
              <a:lnSpc>
                <a:spcPct val="105000"/>
              </a:lnSpc>
            </a:pPr>
            <a:r>
              <a:rPr sz="1300">
                <a:solidFill>
                  <a:srgbClr val="E6EDF3"/>
                </a:solidFill>
                <a:latin typeface="Roboto Mono"/>
              </a:rPr>
              <a:t>  rationale: "Index file — metadata inherited from parent data file"</a:t>
            </a:r>
          </a:p>
        </p:txBody>
      </p:sp>
      <p:pic>
        <p:nvPicPr>
          <p:cNvPr id="5" name="Picture 4" descr="logoAnvil_ti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080760"/>
            <a:ext cx="1463040" cy="5329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729C"/>
                </a:solidFill>
                <a:latin typeface="Inter"/>
              </a:rPr>
              <a:t>How do we know it's right?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2200">
                <a:solidFill>
                  <a:srgbClr val="212B36"/>
                </a:solidFill>
                <a:latin typeface="Inter"/>
              </a:rPr>
              <a:t>External truth</a:t>
            </a:r>
            <a:r>
              <a:rPr sz="2200">
                <a:solidFill>
                  <a:srgbClr val="212B36"/>
                </a:solidFill>
                <a:latin typeface="Inter"/>
              </a:rPr>
              <a:t> — compare our answers, file by file, against independent authorities that published their own metadata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2200">
                <a:solidFill>
                  <a:srgbClr val="212B36"/>
                </a:solidFill>
                <a:latin typeface="Inter"/>
              </a:rPr>
              <a:t>Internal consistency</a:t>
            </a:r>
            <a:r>
              <a:rPr sz="2200">
                <a:solidFill>
                  <a:srgbClr val="212B36"/>
                </a:solidFill>
                <a:latin typeface="Inter"/>
              </a:rPr>
              <a:t> — inputs and outputs match their declared shapes (allowed values, required fields) and never contradict each other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2200">
                <a:solidFill>
                  <a:srgbClr val="212B36"/>
                </a:solidFill>
                <a:latin typeface="Inter"/>
              </a:rPr>
              <a:t>Three outcomes tracked</a:t>
            </a:r>
            <a:r>
              <a:rPr sz="2200">
                <a:solidFill>
                  <a:srgbClr val="212B36"/>
                </a:solidFill>
                <a:latin typeface="Inter"/>
              </a:rPr>
              <a:t> — agree · disagree · unable to answer — disagreements and gaps are the interesting part</a:t>
            </a:r>
          </a:p>
        </p:txBody>
      </p:sp>
      <p:pic>
        <p:nvPicPr>
          <p:cNvPr id="4" name="Picture 3" descr="logoAnvil_ti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080760"/>
            <a:ext cx="1463040" cy="5329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729C"/>
                </a:solidFill>
                <a:latin typeface="Inter"/>
              </a:rPr>
              <a:t>External truth — HPRC Catalog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600">
                <a:solidFill>
                  <a:srgbClr val="212B36"/>
                </a:solidFill>
                <a:latin typeface="Inter"/>
              </a:rPr>
              <a:t>The universe</a:t>
            </a:r>
            <a:r>
              <a:rPr sz="1600">
                <a:solidFill>
                  <a:srgbClr val="212B36"/>
                </a:solidFill>
                <a:latin typeface="Inter"/>
              </a:rPr>
              <a:t> — we classify the full HPRC Catalog directly — 15,436 records (sequencing 6,048 · alignments 89 · annotations 8,739 · assemblies 560); 9,182 get classification records, the rest are formats without rules yet (tsv/txt/bigwig/gff3/indexes)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600">
                <a:solidFill>
                  <a:srgbClr val="212B36"/>
                </a:solidFill>
                <a:latin typeface="Inter"/>
              </a:rPr>
              <a:t>platform</a:t>
            </a:r>
            <a:r>
              <a:rPr sz="1600">
                <a:solidFill>
                  <a:srgbClr val="212B36"/>
                </a:solidFill>
                <a:latin typeface="Inter"/>
              </a:rPr>
              <a:t> — 6,048 of 6,048 sequencing files agree · 0 disagree · 0 unanswered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600">
                <a:solidFill>
                  <a:srgbClr val="212B36"/>
                </a:solidFill>
                <a:latin typeface="Inter"/>
              </a:rPr>
              <a:t>modality</a:t>
            </a:r>
            <a:r>
              <a:rPr sz="1600">
                <a:solidFill>
                  <a:srgbClr val="212B36"/>
                </a:solidFill>
                <a:latin typeface="Inter"/>
              </a:rPr>
              <a:t> — of the same 6,048: 929 agree · 0 disagree · 4,919 unanswered (raw-reads ceiling) · 200 with no Catalog value to compare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600">
                <a:solidFill>
                  <a:srgbClr val="212B36"/>
                </a:solidFill>
                <a:latin typeface="Inter"/>
              </a:rPr>
              <a:t>assay</a:t>
            </a:r>
            <a:r>
              <a:rPr sz="1600">
                <a:solidFill>
                  <a:srgbClr val="212B36"/>
                </a:solidFill>
                <a:latin typeface="Inter"/>
              </a:rPr>
              <a:t> — of the same 6,048: 929 agree · 0 disagree · 5,119 unanswered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212B36"/>
                </a:solidFill>
                <a:latin typeface="Inter"/>
              </a:rPr>
              <a:t>reference</a:t>
            </a:r>
            <a:r>
              <a:rPr sz="1600">
                <a:solidFill>
                  <a:srgbClr val="212B36"/>
                </a:solidFill>
                <a:latin typeface="Inter"/>
              </a:rPr>
              <a:t> — 2,574 files carry a declared reference (alignments + annotations): 2,563 agree · 4 disagree (pangenome graphs, no single right answer — </a:t>
            </a:r>
            <a:r>
              <a:rPr sz="1600">
                <a:solidFill>
                  <a:srgbClr val="212B36"/>
                </a:solidFill>
                <a:latin typeface="Inter"/>
                <a:hlinkClick r:id="rId3"/>
              </a:rPr>
              <a:t>#331</a:t>
            </a:r>
            <a:r>
              <a:rPr sz="1600">
                <a:solidFill>
                  <a:srgbClr val="212B36"/>
                </a:solidFill>
                <a:latin typeface="Inter"/>
              </a:rPr>
              <a:t>) · 7 unanswered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600">
                <a:solidFill>
                  <a:srgbClr val="212B36"/>
                </a:solidFill>
                <a:latin typeface="Inter"/>
              </a:rPr>
              <a:t>Bridge to AnVIL</a:t>
            </a:r>
            <a:r>
              <a:rPr sz="1600">
                <a:solidFill>
                  <a:srgbClr val="212B36"/>
                </a:solidFill>
                <a:latin typeface="Inter"/>
              </a:rPr>
              <a:t> — ~90% of the HPRC Catalog's files are also in AnVIL — a good testing example</a:t>
            </a:r>
          </a:p>
        </p:txBody>
      </p:sp>
      <p:pic>
        <p:nvPicPr>
          <p:cNvPr id="4" name="Picture 3" descr="logoAnvil_ti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080760"/>
            <a:ext cx="1463040" cy="5329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729C"/>
                </a:solidFill>
                <a:latin typeface="Inter"/>
              </a:rPr>
              <a:t>External truth — 1000 Genomes &amp; ENA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600">
                <a:solidFill>
                  <a:srgbClr val="212B36"/>
                </a:solidFill>
                <a:latin typeface="Inter"/>
              </a:rPr>
              <a:t>1000 Genomes (IGSR)</a:t>
            </a:r>
            <a:r>
              <a:rPr sz="1600">
                <a:solidFill>
                  <a:srgbClr val="212B36"/>
                </a:solidFill>
                <a:latin typeface="Inter"/>
              </a:rPr>
              <a:t> — 3,208 of 3,211 samples resolved at IGSR (79 lookup errors) → 14,780 files compared; IGSR lists each sample's platforms as a set, so agree = our value is in the set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600">
                <a:solidFill>
                  <a:srgbClr val="212B36"/>
                </a:solidFill>
                <a:latin typeface="Inter"/>
              </a:rPr>
              <a:t>platform</a:t>
            </a:r>
            <a:r>
              <a:rPr sz="1600">
                <a:solidFill>
                  <a:srgbClr val="212B36"/>
                </a:solidFill>
                <a:latin typeface="Inter"/>
              </a:rPr>
              <a:t> — 12,877 agree · 6 disagree · 1,897 with no committed value on our side — sums to 14,780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600">
                <a:solidFill>
                  <a:srgbClr val="212B36"/>
                </a:solidFill>
                <a:latin typeface="Inter"/>
              </a:rPr>
              <a:t>modality</a:t>
            </a:r>
            <a:r>
              <a:rPr sz="1600">
                <a:solidFill>
                  <a:srgbClr val="212B36"/>
                </a:solidFill>
                <a:latin typeface="Inter"/>
              </a:rPr>
              <a:t> — 14,160 agree (2,351 of those at family level, e.g. transcriptomic vs transcriptomic.bulk) · 0 disagree · 620 with no committed value — sums to 14,780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600">
                <a:solidFill>
                  <a:srgbClr val="212B36"/>
                </a:solidFill>
                <a:latin typeface="Inter"/>
              </a:rPr>
              <a:t>The 6 disagreements</a:t>
            </a:r>
            <a:r>
              <a:rPr sz="1600">
                <a:solidFill>
                  <a:srgbClr val="212B36"/>
                </a:solidFill>
                <a:latin typeface="Inter"/>
              </a:rPr>
              <a:t> — our headers say ONT; the IGSR collections for those samples list only PacBio/Illumina — flagged for investigation, each a real lead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600">
                <a:solidFill>
                  <a:srgbClr val="212B36"/>
                </a:solidFill>
                <a:latin typeface="Inter"/>
              </a:rPr>
              <a:t>ENA</a:t>
            </a:r>
            <a:r>
              <a:rPr sz="1600">
                <a:solidFill>
                  <a:srgbClr val="212B36"/>
                </a:solidFill>
                <a:latin typeface="Inter"/>
              </a:rPr>
              <a:t> — 6,962 accession-bearing FASTQs vs the European Nucleotide Archive (re-run 2026-08-18): platform 6,830/6,830 agree, 100% (132 lookup errors); ENA also declares library source/strategy — the very fields FASTQs cannot reveal — an import source, not just a check</a:t>
            </a:r>
          </a:p>
        </p:txBody>
      </p:sp>
      <p:pic>
        <p:nvPicPr>
          <p:cNvPr id="4" name="Picture 3" descr="logoAnvil_ti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080760"/>
            <a:ext cx="1463040" cy="5329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729C"/>
                </a:solidFill>
                <a:latin typeface="Inter"/>
              </a:rPr>
              <a:t>External truth — AnVIL itself &amp; Ensembl/NCBI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900">
                <a:solidFill>
                  <a:srgbClr val="212B36"/>
                </a:solidFill>
                <a:latin typeface="Inter"/>
              </a:rPr>
              <a:t>AnVIL's own metadata</a:t>
            </a:r>
            <a:r>
              <a:rPr sz="1900">
                <a:solidFill>
                  <a:srgbClr val="212B36"/>
                </a:solidFill>
                <a:latin typeface="Inter"/>
              </a:rPr>
              <a:t> — per-file data_modality / reference_assembly compared where present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900">
                <a:solidFill>
                  <a:srgbClr val="212B36"/>
                </a:solidFill>
                <a:latin typeface="Inter"/>
              </a:rPr>
              <a:t>Ensembl / NCBI</a:t>
            </a:r>
            <a:r>
              <a:rPr sz="1900">
                <a:solidFill>
                  <a:srgbClr val="212B36"/>
                </a:solidFill>
                <a:latin typeface="Inter"/>
              </a:rPr>
              <a:t> — a different kind of check: our contig-length tables are validated against the official assembly definitions</a:t>
            </a:r>
          </a:p>
        </p:txBody>
      </p:sp>
      <p:pic>
        <p:nvPicPr>
          <p:cNvPr id="4" name="Picture 3" descr="logoAnvil_ti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080760"/>
            <a:ext cx="1463040" cy="5329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729C"/>
                </a:solidFill>
                <a:latin typeface="Inter"/>
              </a:rPr>
              <a:t>Internal consistency: the pipeline checks itself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900">
                <a:solidFill>
                  <a:srgbClr val="212B36"/>
                </a:solidFill>
                <a:latin typeface="Inter"/>
              </a:rPr>
              <a:t>Before a run</a:t>
            </a:r>
            <a:r>
              <a:rPr sz="1900">
                <a:solidFill>
                  <a:srgbClr val="212B36"/>
                </a:solidFill>
                <a:latin typeface="Inter"/>
              </a:rPr>
              <a:t> — the downloaded input metadata must match the expected shape, or we refuse to start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900">
                <a:solidFill>
                  <a:srgbClr val="212B36"/>
                </a:solidFill>
                <a:latin typeface="Inter"/>
              </a:rPr>
              <a:t>After a run</a:t>
            </a:r>
            <a:r>
              <a:rPr sz="1900">
                <a:solidFill>
                  <a:srgbClr val="212B36"/>
                </a:solidFill>
                <a:latin typeface="Inter"/>
              </a:rPr>
              <a:t> — every record is checked against the formal schema — controlled vocabulary only, status always present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900">
                <a:solidFill>
                  <a:srgbClr val="212B36"/>
                </a:solidFill>
                <a:latin typeface="Inter"/>
              </a:rPr>
              <a:t>Cross-field linter</a:t>
            </a:r>
            <a:r>
              <a:rPr sz="1900">
                <a:solidFill>
                  <a:srgbClr val="212B36"/>
                </a:solidFill>
                <a:latin typeface="Inter"/>
              </a:rPr>
              <a:t> — logic rules over the whole corpus (an index file must stay not_applicable) — currently zero violations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900">
                <a:solidFill>
                  <a:srgbClr val="212B36"/>
                </a:solidFill>
                <a:latin typeface="Inter"/>
              </a:rPr>
              <a:t>Determinism</a:t>
            </a:r>
            <a:r>
              <a:rPr sz="1900">
                <a:solidFill>
                  <a:srgbClr val="212B36"/>
                </a:solidFill>
                <a:latin typeface="Inter"/>
              </a:rPr>
              <a:t> — same inputs, same outputs — so every change is re-run corpus-wide and diffed</a:t>
            </a:r>
          </a:p>
        </p:txBody>
      </p:sp>
      <p:pic>
        <p:nvPicPr>
          <p:cNvPr id="4" name="Picture 3" descr="logoAnvil_ti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080760"/>
            <a:ext cx="1463040" cy="5329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35C94"/>
                </a:solidFill>
                <a:latin typeface="Inter"/>
              </a:rPr>
              <a:t>Where we can't answer — the content ceiling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800">
                <a:solidFill>
                  <a:srgbClr val="212B36"/>
                </a:solidFill>
                <a:latin typeface="Inter"/>
              </a:rPr>
              <a:t>Coverage today</a:t>
            </a:r>
            <a:r>
              <a:rPr sz="1800">
                <a:solidFill>
                  <a:srgbClr val="212B36"/>
                </a:solidFill>
                <a:latin typeface="Inter"/>
              </a:rPr>
              <a:t> — share of ~669K data files with a committed value (the 734K snapshot minus non-data files; not_applicable does not count): data_type ~97% · data_modality ~92% · reference_assembly ~68% · assay_type and platform ~8–9%. The ~3% missing even on data_type is mostly a ~16K tail of formats with no rules yet — those files are uncovered on every dimension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800">
                <a:solidFill>
                  <a:srgbClr val="212B36"/>
                </a:solidFill>
                <a:latin typeface="Inter"/>
              </a:rPr>
              <a:t>FASTQ</a:t>
            </a:r>
            <a:r>
              <a:rPr sz="1800">
                <a:solidFill>
                  <a:srgbClr val="212B36"/>
                </a:solidFill>
                <a:latin typeface="Inter"/>
              </a:rPr>
              <a:t> — platform 100% (read names encode the instrument) — but modality/assay 100% not_classified: a WGS and an RNA-seq FASTQ carry no in-file marker of which they are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800">
                <a:solidFill>
                  <a:srgbClr val="212B36"/>
                </a:solidFill>
                <a:latin typeface="Inter"/>
              </a:rPr>
              <a:t>BED</a:t>
            </a:r>
            <a:r>
              <a:rPr sz="1800">
                <a:solidFill>
                  <a:srgbClr val="212B36"/>
                </a:solidFill>
                <a:latin typeface="Inter"/>
              </a:rPr>
              <a:t> — reference recoverable only when intervals span whole chromosomes (sparse files are ambiguous); coordinates carry no instrument or experiment signature — assay is known for just 40 of 11,523 BEDs (filename tokens), platform for none; the rest split ~62% not_applicable / ~38% not_classified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800">
                <a:solidFill>
                  <a:srgbClr val="212B36"/>
                </a:solidFill>
                <a:latin typeface="Inter"/>
              </a:rPr>
              <a:t>The lesson</a:t>
            </a:r>
            <a:r>
              <a:rPr sz="1800">
                <a:solidFill>
                  <a:srgbClr val="212B36"/>
                </a:solidFill>
                <a:latin typeface="Inter"/>
              </a:rPr>
              <a:t> — the hardest dimensions are declared in the submission but invisible in the content — no engine can extract what is not in the bytes</a:t>
            </a:r>
          </a:p>
        </p:txBody>
      </p:sp>
      <p:pic>
        <p:nvPicPr>
          <p:cNvPr id="4" name="Picture 3" descr="logoAnvil_ti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080760"/>
            <a:ext cx="1463040" cy="5329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35C94"/>
                </a:solidFill>
                <a:latin typeface="Inter"/>
              </a:rPr>
              <a:t>Upcoming: more sources of truth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2100">
                <a:solidFill>
                  <a:srgbClr val="212B36"/>
                </a:solidFill>
                <a:latin typeface="Inter"/>
              </a:rPr>
              <a:t>Import project metadata</a:t>
            </a:r>
            <a:r>
              <a:rPr sz="2100">
                <a:solidFill>
                  <a:srgbClr val="212B36"/>
                </a:solidFill>
                <a:latin typeface="Inter"/>
              </a:rPr>
              <a:t> — read the project's own catalog as ground truth (e.g. the HPRC Catalog's library_strategy — fills the FASTQ modality/assay gap)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2100">
                <a:solidFill>
                  <a:srgbClr val="212B36"/>
                </a:solidFill>
                <a:latin typeface="Inter"/>
              </a:rPr>
              <a:t>dbGaP FHIR API</a:t>
            </a:r>
            <a:r>
              <a:rPr sz="2100">
                <a:solidFill>
                  <a:srgbClr val="212B36"/>
                </a:solidFill>
                <a:latin typeface="Inter"/>
              </a:rPr>
              <a:t> — study-level records constrain the possibilities for every file in a study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2100">
                <a:solidFill>
                  <a:srgbClr val="212B36"/>
                </a:solidFill>
                <a:latin typeface="Inter"/>
              </a:rPr>
              <a:t>Marker / methods papers</a:t>
            </a:r>
            <a:r>
              <a:rPr sz="2100">
                <a:solidFill>
                  <a:srgbClr val="212B36"/>
                </a:solidFill>
                <a:latin typeface="Inter"/>
              </a:rPr>
              <a:t> — find each study's flagship publication and mine its methods section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2100">
                <a:solidFill>
                  <a:srgbClr val="212B36"/>
                </a:solidFill>
                <a:latin typeface="Inter"/>
              </a:rPr>
              <a:t>UCSC Genome Browser</a:t>
            </a:r>
            <a:r>
              <a:rPr sz="2100">
                <a:solidFill>
                  <a:srgbClr val="212B36"/>
                </a:solidFill>
                <a:latin typeface="Inter"/>
              </a:rPr>
              <a:t> — to explore for open-access BED files: a track hub cannot exist without declaring its assembly (genomes.txt) — the exact fact BED content cannot reveal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2100">
                <a:solidFill>
                  <a:srgbClr val="212B36"/>
                </a:solidFill>
                <a:latin typeface="Inter"/>
              </a:rPr>
              <a:t>Where else should we look?</a:t>
            </a:r>
            <a:r>
              <a:rPr sz="2100">
                <a:solidFill>
                  <a:srgbClr val="212B36"/>
                </a:solidFill>
                <a:latin typeface="Inter"/>
              </a:rPr>
              <a:t> — open question for this group — which authorities do you trust and use?</a:t>
            </a:r>
          </a:p>
        </p:txBody>
      </p:sp>
      <p:pic>
        <p:nvPicPr>
          <p:cNvPr id="4" name="Picture 3" descr="logoAnvil_ti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080760"/>
            <a:ext cx="1463040" cy="5329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35C94"/>
                </a:solidFill>
                <a:latin typeface="Inter"/>
              </a:rPr>
              <a:t>Finding a study's marker paper — the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800">
                <a:solidFill>
                  <a:srgbClr val="212B36"/>
                </a:solidFill>
                <a:latin typeface="Inter"/>
              </a:rPr>
              <a:t>Marker paper</a:t>
            </a:r>
            <a:r>
              <a:rPr sz="1800">
                <a:solidFill>
                  <a:srgbClr val="212B36"/>
                </a:solidFill>
                <a:latin typeface="Inter"/>
              </a:rPr>
              <a:t> — the publication that describes the study itself — design, cohort, methods — as opposed to papers that merely use the data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800">
                <a:solidFill>
                  <a:srgbClr val="212B36"/>
                </a:solidFill>
                <a:latin typeface="Inter"/>
              </a:rPr>
              <a:t>Ordered source chain</a:t>
            </a:r>
            <a:r>
              <a:rPr sz="1800">
                <a:solidFill>
                  <a:srgbClr val="212B36"/>
                </a:solidFill>
                <a:latin typeface="Inter"/>
              </a:rPr>
              <a:t> — ten sources tried in order: dbGaP's own Selected Publications list, the dbGaP study page (PIs, grants, study prose), PMC full-text and PubMed accession searches, dbGaP FHIR citations, NIH RePORTER grant→publication links, the dataset record's leads, cohort-name search, web search last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800">
                <a:solidFill>
                  <a:srgbClr val="212B36"/>
                </a:solidFill>
                <a:latin typeface="Inter"/>
              </a:rPr>
              <a:t>Deterministic fetches + judgment</a:t>
            </a:r>
            <a:r>
              <a:rPr sz="1800">
                <a:solidFill>
                  <a:srgbClr val="212B36"/>
                </a:solidFill>
                <a:latin typeface="Inter"/>
              </a:rPr>
              <a:t> — a small CLI does the API calls; selection judges titles, years, list position, and grant-link counts — a paper linked by all of a study's grants is a consortium paper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800">
                <a:solidFill>
                  <a:srgbClr val="212B36"/>
                </a:solidFill>
                <a:latin typeface="Inter"/>
              </a:rPr>
              <a:t>Then abstracts are checked</a:t>
            </a:r>
            <a:r>
              <a:rPr sz="1800">
                <a:solidFill>
                  <a:srgbClr val="212B36"/>
                </a:solidFill>
                <a:latin typeface="Inter"/>
              </a:rPr>
              <a:t> — each candidate's abstract is verified against the study record on identifying facts (cohort size, geography, institution) — this catches wrong candidates; full methods reading is the next epic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800">
                <a:solidFill>
                  <a:srgbClr val="212B36"/>
                </a:solidFill>
                <a:latin typeface="Inter"/>
              </a:rPr>
              <a:t>Candidates, not conclusions</a:t>
            </a:r>
            <a:r>
              <a:rPr sz="1800">
                <a:solidFill>
                  <a:srgbClr val="212B36"/>
                </a:solidFill>
                <a:latin typeface="Inter"/>
              </a:rPr>
              <a:t> — selection yields a marker-paper candidate per study; each candidate (87 studies) needs manual validation before it is trusted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800">
                <a:solidFill>
                  <a:srgbClr val="212B36"/>
                </a:solidFill>
                <a:latin typeface="Inter"/>
              </a:rPr>
              <a:t>Authoritative path</a:t>
            </a:r>
            <a:r>
              <a:rPr sz="1800">
                <a:solidFill>
                  <a:srgbClr val="212B36"/>
                </a:solidFill>
                <a:latin typeface="Inter"/>
              </a:rPr>
              <a:t> — in parallel, we have reached out to the dbGaP team about a more authoritative study→publication linkage — others are requesting this capability as well</a:t>
            </a:r>
          </a:p>
        </p:txBody>
      </p:sp>
      <p:pic>
        <p:nvPicPr>
          <p:cNvPr id="4" name="Picture 3" descr="logoAnvil_ti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080760"/>
            <a:ext cx="1463040" cy="5329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35C94"/>
                </a:solidFill>
                <a:latin typeface="Inter"/>
              </a:rPr>
              <a:t>Marker-paper candidates — where we stand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700">
                <a:solidFill>
                  <a:srgbClr val="212B36"/>
                </a:solidFill>
                <a:latin typeface="Inter"/>
              </a:rPr>
              <a:t>Coverage</a:t>
            </a:r>
            <a:r>
              <a:rPr sz="1700">
                <a:solidFill>
                  <a:srgbClr val="212B36"/>
                </a:solidFill>
                <a:latin typeface="Inter"/>
              </a:rPr>
              <a:t> — 77 of 87 studies have a marker-paper candidate (67/74 phs-anchored · 10/13 anchor-less)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700">
                <a:solidFill>
                  <a:srgbClr val="212B36"/>
                </a:solidFill>
                <a:latin typeface="Inter"/>
              </a:rPr>
              <a:t>From dbGaP directly</a:t>
            </a:r>
            <a:r>
              <a:rPr sz="1700">
                <a:solidFill>
                  <a:srgbClr val="212B36"/>
                </a:solidFill>
                <a:latin typeface="Inter"/>
              </a:rPr>
              <a:t> — 42/74 studies publish a Selected Publications list — the lead entry is typically the marker for cohort/project studies, but only a candidate for sequencing-center deposits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700">
                <a:solidFill>
                  <a:srgbClr val="212B36"/>
                </a:solidFill>
                <a:latin typeface="Inter"/>
              </a:rPr>
              <a:t>From fallback search</a:t>
            </a:r>
            <a:r>
              <a:rPr sz="1700">
                <a:solidFill>
                  <a:srgbClr val="212B36"/>
                </a:solidFill>
                <a:latin typeface="Inter"/>
              </a:rPr>
              <a:t> — 22 of the 29 studies with empty/absent lists got candidates via grant→publication links and cohort-name search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700">
                <a:solidFill>
                  <a:srgbClr val="212B36"/>
                </a:solidFill>
                <a:latin typeface="Inter"/>
              </a:rPr>
              <a:t>Spot-verified</a:t>
            </a:r>
            <a:r>
              <a:rPr sz="1700">
                <a:solidFill>
                  <a:srgbClr val="212B36"/>
                </a:solidFill>
                <a:latin typeface="Inter"/>
              </a:rPr>
              <a:t> — candidate abstracts checked against study records on identifying facts — 11 verified; 1 wrong candidate caught and corrected (phs002205 is the Global Microbiome Conservancy, not an IBD cohort)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700">
                <a:solidFill>
                  <a:srgbClr val="212B36"/>
                </a:solidFill>
                <a:latin typeface="Inter"/>
              </a:rPr>
              <a:t>Unresolved</a:t>
            </a:r>
            <a:r>
              <a:rPr sz="1700">
                <a:solidFill>
                  <a:srgbClr val="212B36"/>
                </a:solidFill>
                <a:latin typeface="Inter"/>
              </a:rPr>
              <a:t> — 7 studies with no candidate — mostly center cohorts that appear unpublished as such (WUCADS, NUgene, Cleveland GeneBank, …)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700">
                <a:solidFill>
                  <a:srgbClr val="212B36"/>
                </a:solidFill>
                <a:latin typeface="Inter"/>
              </a:rPr>
              <a:t>Readable</a:t>
            </a:r>
            <a:r>
              <a:rPr sz="1700">
                <a:solidFill>
                  <a:srgbClr val="212B36"/>
                </a:solidFill>
                <a:latin typeface="Inter"/>
              </a:rPr>
              <a:t> — the 77 studies share candidates — 50 distinct papers in all (consortium papers cover many studies); 42 of the 50 have free PMC full text, so methods sections are one API call away</a:t>
            </a:r>
          </a:p>
        </p:txBody>
      </p:sp>
      <p:pic>
        <p:nvPicPr>
          <p:cNvPr id="4" name="Picture 3" descr="logoAnvil_ti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080760"/>
            <a:ext cx="1463040" cy="5329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729C"/>
                </a:solidFill>
                <a:latin typeface="Inter"/>
              </a:rPr>
              <a:t>Validating consent codes against dbGaP FHIR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700">
                <a:solidFill>
                  <a:srgbClr val="212B36"/>
                </a:solidFill>
                <a:latin typeface="Inter"/>
              </a:rPr>
              <a:t>The check</a:t>
            </a:r>
            <a:r>
              <a:rPr sz="1700">
                <a:solidFill>
                  <a:srgbClr val="212B36"/>
                </a:solidFill>
                <a:latin typeface="Inter"/>
              </a:rPr>
              <a:t> — every AnVIL consent label is validated against its study's registered consents in the dbGaP FHIR record (StudyConsents) — flag-only, nothing is rejected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700">
                <a:solidFill>
                  <a:srgbClr val="212B36"/>
                </a:solidFill>
                <a:latin typeface="Inter"/>
              </a:rPr>
              <a:t>Snapshot</a:t>
            </a:r>
            <a:r>
              <a:rPr sz="1700">
                <a:solidFill>
                  <a:srgbClr val="212B36"/>
                </a:solidFill>
                <a:latin typeface="Inter"/>
              </a:rPr>
              <a:t> — 207 labels across 87 studies: 169 dbGaP-registered · 12 open-access labels · 1 placeholder (TBD) · 7 malformed · 18 unmatched — sums to 207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700">
                <a:solidFill>
                  <a:srgbClr val="212B36"/>
                </a:solidFill>
                <a:latin typeface="Inter"/>
              </a:rPr>
              <a:t>Open access is AnVIL-side</a:t>
            </a:r>
            <a:r>
              <a:rPr sz="1700">
                <a:solidFill>
                  <a:srgbClr val="212B36"/>
                </a:solidFill>
                <a:latin typeface="Inter"/>
              </a:rPr>
              <a:t> — dbGaP registers no open/unrestricted code at all — NRES (a GA4GH DUO term, 11 datasets) and free-text 'Unrestricted access' (1) are platform labels, not dbGaP vocabulary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 b="1">
                <a:solidFill>
                  <a:srgbClr val="212B36"/>
                </a:solidFill>
                <a:latin typeface="Inter"/>
              </a:rPr>
              <a:t>Gap: mismatches need adjudication</a:t>
            </a:r>
            <a:r>
              <a:rPr sz="1700">
                <a:solidFill>
                  <a:srgbClr val="212B36"/>
                </a:solidFill>
                <a:latin typeface="Inter"/>
              </a:rPr>
              <a:t> — 18 unmatched (dbGaP-style codes the study's registry doesn't list, plus free-text one-offs like 'Consortia Access Only') and 7 underscore-corrupted labels on one study — detection hardening tracked in </a:t>
            </a:r>
            <a:r>
              <a:rPr sz="1700">
                <a:solidFill>
                  <a:srgbClr val="212B36"/>
                </a:solidFill>
                <a:latin typeface="Inter"/>
                <a:hlinkClick r:id="rId3"/>
              </a:rPr>
              <a:t>#328</a:t>
            </a:r>
          </a:p>
        </p:txBody>
      </p:sp>
      <p:pic>
        <p:nvPicPr>
          <p:cNvPr id="4" name="Picture 3" descr="logoAnvil_ti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080760"/>
            <a:ext cx="1463040" cy="53296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729C"/>
                </a:solidFill>
                <a:latin typeface="Inter"/>
              </a:rPr>
              <a:t>What else the methods sections could populate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800">
                <a:solidFill>
                  <a:srgbClr val="212B36"/>
                </a:solidFill>
                <a:latin typeface="Inter"/>
              </a:rPr>
              <a:t>organism</a:t>
            </a:r>
            <a:r>
              <a:rPr sz="1800">
                <a:solidFill>
                  <a:srgbClr val="212B36"/>
                </a:solidFill>
                <a:latin typeface="Inter"/>
              </a:rPr>
              <a:t> — stated plainly in methods and study records — human vs non-human primate (dGTEx) vs mouse (IGVF); a dimension we do not classify today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800">
                <a:solidFill>
                  <a:srgbClr val="212B36"/>
                </a:solidFill>
                <a:latin typeface="Inter"/>
              </a:rPr>
              <a:t>tissue / sample type</a:t>
            </a:r>
            <a:r>
              <a:rPr sz="1800">
                <a:solidFill>
                  <a:srgbClr val="212B36"/>
                </a:solidFill>
                <a:latin typeface="Inter"/>
              </a:rPr>
              <a:t> — methods name the source material — LCLs, blood, brain, tumor; anatomy/tissue modeling is a known follow-on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800">
                <a:solidFill>
                  <a:srgbClr val="212B36"/>
                </a:solidFill>
                <a:latin typeface="Inter"/>
              </a:rPr>
              <a:t>Our five, filled at study level</a:t>
            </a:r>
            <a:r>
              <a:rPr sz="1800">
                <a:solidFill>
                  <a:srgbClr val="212B36"/>
                </a:solidFill>
                <a:latin typeface="Inter"/>
              </a:rPr>
              <a:t> — methods state assay and platform outright — e.g. NIA CARD: 'ONT long-read WGS at ~30×' — exactly the fields file content cannot reveal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800">
                <a:solidFill>
                  <a:srgbClr val="212B36"/>
                </a:solidFill>
                <a:latin typeface="Inter"/>
              </a:rPr>
              <a:t>Population / cohort facts</a:t>
            </a:r>
            <a:r>
              <a:rPr sz="1800">
                <a:solidFill>
                  <a:srgbClr val="212B36"/>
                </a:solidFill>
                <a:latin typeface="Inter"/>
              </a:rPr>
              <a:t> — ancestry composition, cohort size, disease focus — study-level context for cohort building</a:t>
            </a:r>
          </a:p>
        </p:txBody>
      </p:sp>
      <p:pic>
        <p:nvPicPr>
          <p:cNvPr id="4" name="Picture 3" descr="logoAnvil_ti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080760"/>
            <a:ext cx="1463040" cy="53296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35C94"/>
                </a:solidFill>
                <a:latin typeface="Inter"/>
              </a:rPr>
              <a:t>New and enriched metadata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900">
                <a:solidFill>
                  <a:srgbClr val="212B36"/>
                </a:solidFill>
                <a:latin typeface="Inter"/>
              </a:rPr>
              <a:t>Enriching existing fields</a:t>
            </a:r>
            <a:r>
              <a:rPr sz="1900">
                <a:solidFill>
                  <a:srgbClr val="212B36"/>
                </a:solidFill>
                <a:latin typeface="Inter"/>
              </a:rPr>
              <a:t> — data_modality and reference_assembly already exist per file — submissions rarely populate them, and Meta-Disco can fill them at scale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900">
                <a:solidFill>
                  <a:srgbClr val="212B36"/>
                </a:solidFill>
                <a:latin typeface="Inter"/>
              </a:rPr>
              <a:t>Adding new fields</a:t>
            </a:r>
            <a:r>
              <a:rPr sz="1900">
                <a:solidFill>
                  <a:srgbClr val="212B36"/>
                </a:solidFill>
                <a:latin typeface="Inter"/>
              </a:rPr>
              <a:t> — data_type, assay_type, and platform would be new per-file dimensions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900">
                <a:solidFill>
                  <a:srgbClr val="212B36"/>
                </a:solidFill>
                <a:latin typeface="Inter"/>
              </a:rPr>
              <a:t>Why it matters</a:t>
            </a:r>
            <a:r>
              <a:rPr sz="1900">
                <a:solidFill>
                  <a:srgbClr val="212B36"/>
                </a:solidFill>
                <a:latin typeface="Inter"/>
              </a:rPr>
              <a:t> — these fields are exactly what file-level search and cohort building need: what the file contains, what experiment produced it, on which instrument</a:t>
            </a:r>
          </a:p>
        </p:txBody>
      </p:sp>
      <p:pic>
        <p:nvPicPr>
          <p:cNvPr id="4" name="Picture 3" descr="logoAnvil_ti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080760"/>
            <a:ext cx="1463040" cy="53296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35C94"/>
                </a:solidFill>
                <a:latin typeface="Inter"/>
              </a:rPr>
              <a:t>The new fields' controlled vocabularies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663440"/>
          </a:xfrm>
          <a:prstGeom prst="rect">
            <a:avLst/>
          </a:prstGeom>
          <a:solidFill>
            <a:srgbClr val="212B36"/>
          </a:solidFill>
        </p:spPr>
        <p:txBody>
          <a:bodyPr wrap="none" anchor="t" lIns="228600" rIns="228600" tIns="164592" bIns="164592">
            <a:spAutoFit/>
          </a:bodyPr>
          <a:lstStyle/>
          <a:p>
            <a:pPr>
              <a:lnSpc>
                <a:spcPct val="105000"/>
              </a:lnSpc>
            </a:pPr>
            <a:r>
              <a:rPr sz="1400">
                <a:solidFill>
                  <a:srgbClr val="E6EDF3"/>
                </a:solidFill>
                <a:latin typeface="Roboto Mono"/>
              </a:rPr>
              <a:t># from the LinkML schema — every value is enumerated, nothing free-text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7EC8E3"/>
                </a:solidFill>
                <a:latin typeface="Roboto Mono"/>
              </a:rPr>
              <a:t>data_type (26):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E6EDF3"/>
                </a:solidFill>
                <a:latin typeface="Roboto Mono"/>
              </a:rPr>
              <a:t>    alignments   reads   sequence   assembly   assembly.reference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E6EDF3"/>
                </a:solidFill>
                <a:latin typeface="Roboto Mono"/>
              </a:rPr>
              <a:t>    pangenome    pangenome.reference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E6EDF3"/>
                </a:solidFill>
                <a:latin typeface="Roboto Mono"/>
              </a:rPr>
              <a:t>    variants     variants.germline   variants.somatic   variants.structural   variants.cnv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E6EDF3"/>
                </a:solidFill>
                <a:latin typeface="Roboto Mono"/>
              </a:rPr>
              <a:t>    genotypes    expression_matrix   quantification   annotations   peaks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E6EDF3"/>
                </a:solidFill>
                <a:latin typeface="Roboto Mono"/>
              </a:rPr>
              <a:t>    signal       raw_signal   array_signal   images   interval_set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E6EDF3"/>
                </a:solidFill>
                <a:latin typeface="Roboto Mono"/>
              </a:rPr>
              <a:t>    index        checksum     statistics    log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E6EDF3"/>
                </a:solidFill>
                <a:latin typeface="Roboto Mono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7EC8E3"/>
                </a:solidFill>
                <a:latin typeface="Roboto Mono"/>
              </a:rPr>
              <a:t>assay_type (8):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E6EDF3"/>
                </a:solidFill>
                <a:latin typeface="Roboto Mono"/>
              </a:rPr>
              <a:t>    WGS   WES   RNA-seq   ATAC-seq   ChIP-seq   Bisulfite-seq   Methylation array   Histology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E6EDF3"/>
                </a:solidFill>
                <a:latin typeface="Roboto Mono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7EC8E3"/>
                </a:solidFill>
                <a:latin typeface="Roboto Mono"/>
              </a:rPr>
              <a:t>platform (6):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E6EDF3"/>
                </a:solidFill>
                <a:latin typeface="Roboto Mono"/>
              </a:rPr>
              <a:t>    ILLUMINA   PACBIO   ONT   MGI   ELEMENT   ULTIMA</a:t>
            </a:r>
          </a:p>
        </p:txBody>
      </p:sp>
      <p:pic>
        <p:nvPicPr>
          <p:cNvPr id="4" name="Picture 3" descr="logoAnvil_ti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080760"/>
            <a:ext cx="1463040" cy="53296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35C94"/>
                </a:solidFill>
                <a:latin typeface="Inter"/>
              </a:rPr>
              <a:t>What we would add to AnVIL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800">
                <a:solidFill>
                  <a:srgbClr val="212B36"/>
                </a:solidFill>
                <a:latin typeface="Inter"/>
              </a:rPr>
              <a:t>~1.85M field values</a:t>
            </a:r>
            <a:r>
              <a:rPr sz="1800">
                <a:solidFill>
                  <a:srgbClr val="212B36"/>
                </a:solidFill>
                <a:latin typeface="Inter"/>
              </a:rPr>
              <a:t> — committed classifications on files where AnVIL's metadata is blank — or has no such field at all (2026-08 run joined to the AnVIL snapshot)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800">
                <a:solidFill>
                  <a:srgbClr val="212B36"/>
                </a:solidFill>
                <a:latin typeface="Inter"/>
              </a:rPr>
              <a:t>data_modality</a:t>
            </a:r>
            <a:r>
              <a:rPr sz="1800">
                <a:solidFill>
                  <a:srgbClr val="212B36"/>
                </a:solidFill>
                <a:latin typeface="Inter"/>
              </a:rPr>
              <a:t> — 617,404 added — AnVIL's own field is filled on just 6,755 of 734K files (0.9%)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800">
                <a:solidFill>
                  <a:srgbClr val="212B36"/>
                </a:solidFill>
                <a:latin typeface="Inter"/>
              </a:rPr>
              <a:t>reference_assembly</a:t>
            </a:r>
            <a:r>
              <a:rPr sz="1800">
                <a:solidFill>
                  <a:srgbClr val="212B36"/>
                </a:solidFill>
                <a:latin typeface="Inter"/>
              </a:rPr>
              <a:t> — 463,160 added — AnVIL's field filled on only 4,696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800">
                <a:solidFill>
                  <a:srgbClr val="212B36"/>
                </a:solidFill>
                <a:latin typeface="Inter"/>
              </a:rPr>
              <a:t>data_type · assay · platform</a:t>
            </a:r>
            <a:r>
              <a:rPr sz="1800">
                <a:solidFill>
                  <a:srgbClr val="212B36"/>
                </a:solidFill>
                <a:latin typeface="Inter"/>
              </a:rPr>
              <a:t> — 652,265 · 54,349 · 57,973 added — AnVIL has no per-file fields for these at all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800">
                <a:solidFill>
                  <a:srgbClr val="212B36"/>
                </a:solidFill>
                <a:latin typeface="Inter"/>
              </a:rPr>
              <a:t>The reverse is tiny</a:t>
            </a:r>
            <a:r>
              <a:rPr sz="1800">
                <a:solidFill>
                  <a:srgbClr val="212B36"/>
                </a:solidFill>
                <a:latin typeface="Inter"/>
              </a:rPr>
              <a:t> — AnVIL knows something we don't on ~6,300 modality and ~4,100 reference files — cases to learn from, not a gap</a:t>
            </a:r>
          </a:p>
        </p:txBody>
      </p:sp>
      <p:pic>
        <p:nvPicPr>
          <p:cNvPr id="4" name="Picture 3" descr="logoAnvil_ti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080760"/>
            <a:ext cx="1463040" cy="53296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35C94"/>
                </a:solidFill>
                <a:latin typeface="Inter"/>
              </a:rPr>
              <a:t>Closing the loop: delivering metadata to AnVIL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900">
                <a:solidFill>
                  <a:srgbClr val="212B36"/>
                </a:solidFill>
                <a:latin typeface="Inter"/>
              </a:rPr>
              <a:t>Set up incremental delivery</a:t>
            </a:r>
            <a:r>
              <a:rPr sz="1900">
                <a:solidFill>
                  <a:srgbClr val="212B36"/>
                </a:solidFill>
                <a:latin typeface="Inter"/>
              </a:rPr>
              <a:t> — Meta-Disco starts delivering metadata to AnVIL on an ongoing basis — not a one-off backfill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900">
                <a:solidFill>
                  <a:srgbClr val="212B36"/>
                </a:solidFill>
                <a:latin typeface="Inter"/>
              </a:rPr>
              <a:t>Preferred: through TDR</a:t>
            </a:r>
            <a:r>
              <a:rPr sz="1900">
                <a:solidFill>
                  <a:srgbClr val="212B36"/>
                </a:solidFill>
                <a:latin typeface="Inter"/>
              </a:rPr>
              <a:t> — add the metadata to the TDR input workspaces, so it flows through the existing ingest path and lands where all other metadata lives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900">
                <a:solidFill>
                  <a:srgbClr val="212B36"/>
                </a:solidFill>
                <a:latin typeface="Inter"/>
              </a:rPr>
              <a:t>Alternative: sidecar database</a:t>
            </a:r>
            <a:r>
              <a:rPr sz="1900">
                <a:solidFill>
                  <a:srgbClr val="212B36"/>
                </a:solidFill>
                <a:latin typeface="Inter"/>
              </a:rPr>
              <a:t> — a separate store carrying the additional metadata plus provenance, which Azul references independently of TDR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900">
                <a:solidFill>
                  <a:srgbClr val="212B36"/>
                </a:solidFill>
                <a:latin typeface="Inter"/>
              </a:rPr>
              <a:t>Provenance travels with the data</a:t>
            </a:r>
            <a:r>
              <a:rPr sz="1900">
                <a:solidFill>
                  <a:srgbClr val="212B36"/>
                </a:solidFill>
                <a:latin typeface="Inter"/>
              </a:rPr>
              <a:t> — either way, every delivered value keeps its evidence trail — which rule fired, from which source, and why</a:t>
            </a:r>
          </a:p>
        </p:txBody>
      </p:sp>
      <p:pic>
        <p:nvPicPr>
          <p:cNvPr id="4" name="Picture 3" descr="logoAnvil_ti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080760"/>
            <a:ext cx="1463040" cy="53296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35C94"/>
                </a:solidFill>
                <a:latin typeface="Inter"/>
              </a:rP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00729C"/>
                </a:solidFill>
              </a:defRPr>
            </a:pPr>
            <a:r>
              <a:rPr>
                <a:latin typeface="Inter"/>
              </a:rPr>
              <a:t>Questions?</a:t>
            </a:r>
          </a:p>
        </p:txBody>
      </p:sp>
      <p:pic>
        <p:nvPicPr>
          <p:cNvPr id="4" name="Picture 3" descr="logoAnvil_ti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080760"/>
            <a:ext cx="1463040" cy="5329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